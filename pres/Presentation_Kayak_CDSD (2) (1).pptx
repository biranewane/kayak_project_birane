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embeddedFontLst>
    <p:embeddedFont>
      <p:font typeface="Play"/>
      <p:regular r:id="rId14"/>
      <p:bold r:id="rId15"/>
    </p:embeddedFont>
    <p:embeddedFont>
      <p:font typeface="Inter SemiBold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GwvVx0V4yfL06oSCXyJIxgZHM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5" Type="http://schemas.openxmlformats.org/officeDocument/2006/relationships/slide" Target="slides/slide1.xml"/><Relationship Id="rId19" Type="http://schemas.openxmlformats.org/officeDocument/2006/relationships/font" Target="fonts/InterSemiBold-boldItalic.fntdata"/><Relationship Id="rId6" Type="http://schemas.openxmlformats.org/officeDocument/2006/relationships/slide" Target="slides/slide2.xml"/><Relationship Id="rId18" Type="http://schemas.openxmlformats.org/officeDocument/2006/relationships/font" Target="fonts/InterSemiBold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f5da45ec31_0_4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g3f5da45ec31_0_4:notes"/>
          <p:cNvSpPr/>
          <p:nvPr>
            <p:ph idx="2" type="sldImg"/>
          </p:nvPr>
        </p:nvSpPr>
        <p:spPr>
          <a:xfrm>
            <a:off x="381381" y="914376"/>
            <a:ext cx="60957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5da45ec31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5da45ec31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5da45ec31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5da45ec31_0_105:notes"/>
          <p:cNvSpPr/>
          <p:nvPr>
            <p:ph idx="2" type="sldImg"/>
          </p:nvPr>
        </p:nvSpPr>
        <p:spPr>
          <a:xfrm>
            <a:off x="-223203" y="1523959"/>
            <a:ext cx="73044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f5da45ec31_0_105:notes"/>
          <p:cNvSpPr txBox="1"/>
          <p:nvPr>
            <p:ph idx="1" type="body"/>
          </p:nvPr>
        </p:nvSpPr>
        <p:spPr>
          <a:xfrm>
            <a:off x="685167" y="5867244"/>
            <a:ext cx="5487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g3f5da45ec31_0_105:notes"/>
          <p:cNvSpPr txBox="1"/>
          <p:nvPr>
            <p:ph idx="12" type="sldNum"/>
          </p:nvPr>
        </p:nvSpPr>
        <p:spPr>
          <a:xfrm>
            <a:off x="3884730" y="11579975"/>
            <a:ext cx="29712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f5da45ec31_0_56"/>
          <p:cNvSpPr txBox="1"/>
          <p:nvPr>
            <p:ph type="ctrTitle"/>
          </p:nvPr>
        </p:nvSpPr>
        <p:spPr>
          <a:xfrm>
            <a:off x="415600" y="992767"/>
            <a:ext cx="113604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4" name="Google Shape;14;g3f5da45ec31_0_56"/>
          <p:cNvSpPr txBox="1"/>
          <p:nvPr>
            <p:ph idx="1" type="subTitle"/>
          </p:nvPr>
        </p:nvSpPr>
        <p:spPr>
          <a:xfrm>
            <a:off x="415589" y="3778833"/>
            <a:ext cx="113604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5" name="Google Shape;15;g3f5da45ec31_0_56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f5da45ec31_0_4"/>
          <p:cNvSpPr txBox="1"/>
          <p:nvPr>
            <p:ph type="ctrTitle"/>
          </p:nvPr>
        </p:nvSpPr>
        <p:spPr>
          <a:xfrm>
            <a:off x="975334" y="2072640"/>
            <a:ext cx="5486400" cy="19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en-US" sz="61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Projet Kayak</a:t>
            </a:r>
            <a:endParaRPr sz="53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1" name="Google Shape;21;g3f5da45ec31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7233" y="3461000"/>
            <a:ext cx="5091131" cy="3396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g3f5da45ec31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0703" y="1049833"/>
            <a:ext cx="1297665" cy="86804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g3f5da45ec31_0_4"/>
          <p:cNvSpPr/>
          <p:nvPr/>
        </p:nvSpPr>
        <p:spPr>
          <a:xfrm>
            <a:off x="566925" y="5910275"/>
            <a:ext cx="47748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CDSD – </a:t>
            </a:r>
            <a:r>
              <a:rPr lang="en-US" sz="1750">
                <a:solidFill>
                  <a:srgbClr val="FFFFFF"/>
                </a:solidFill>
              </a:rPr>
              <a:t>Groupe 4</a:t>
            </a:r>
            <a:r>
              <a:rPr b="0" i="0" lang="en-US" sz="1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– 2026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320040" y="201168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b="0" i="0" lang="en-US" sz="2300" u="none" cap="none" strike="noStrike">
                <a:solidFill>
                  <a:srgbClr val="12263A"/>
                </a:solidFill>
                <a:latin typeface="Play"/>
                <a:ea typeface="Play"/>
                <a:cs typeface="Play"/>
                <a:sym typeface="Play"/>
              </a:rPr>
              <a:t>Comprendre le besoin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" name="Google Shape;30;p2"/>
          <p:cNvCxnSpPr/>
          <p:nvPr/>
        </p:nvCxnSpPr>
        <p:spPr>
          <a:xfrm>
            <a:off x="320040" y="658368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2"/>
          <p:cNvSpPr/>
          <p:nvPr/>
        </p:nvSpPr>
        <p:spPr>
          <a:xfrm>
            <a:off x="685800" y="1005840"/>
            <a:ext cx="5074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Aider un utilisateur à choisir la meilleure destination kayak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77240" y="2148840"/>
            <a:ext cx="1554480" cy="786384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Météo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487168" y="2148840"/>
            <a:ext cx="1554480" cy="786384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Ville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187952" y="2148840"/>
            <a:ext cx="1554480" cy="786384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Hôtel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810512" y="2377440"/>
            <a:ext cx="310896" cy="310896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3511296" y="2377440"/>
            <a:ext cx="310896" cy="310896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777240" y="3977640"/>
            <a:ext cx="4754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Objectif : automatiser une recommandation avec un pipeline data complet.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8A2B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39;p2" title="ChatGPT Image 28 juil. 2026, 16_32_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9232" y="1247933"/>
            <a:ext cx="6144442" cy="4096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320040" y="201168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b="0" i="0" lang="en-US" sz="2300" u="none" cap="none" strike="noStrike">
                <a:solidFill>
                  <a:srgbClr val="12263A"/>
                </a:solidFill>
                <a:latin typeface="Play"/>
                <a:ea typeface="Play"/>
                <a:cs typeface="Play"/>
                <a:sym typeface="Play"/>
              </a:rPr>
              <a:t>Architecture du pipeline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" name="Google Shape;46;p3"/>
          <p:cNvCxnSpPr/>
          <p:nvPr/>
        </p:nvCxnSpPr>
        <p:spPr>
          <a:xfrm>
            <a:off x="320040" y="658368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wide_clean_flat_vector_infographic_on_a_white_very_batch_3.png" id="47" name="Google Shape;47;p3"/>
          <p:cNvPicPr preferRelativeResize="0"/>
          <p:nvPr/>
        </p:nvPicPr>
        <p:blipFill rotWithShape="1">
          <a:blip r:embed="rId3">
            <a:alphaModFix/>
          </a:blip>
          <a:srcRect b="26621" l="0" r="0" t="26621"/>
          <a:stretch/>
        </p:blipFill>
        <p:spPr>
          <a:xfrm>
            <a:off x="914400" y="960120"/>
            <a:ext cx="1042416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"/>
          <p:cNvSpPr/>
          <p:nvPr/>
        </p:nvSpPr>
        <p:spPr>
          <a:xfrm>
            <a:off x="594360" y="4160520"/>
            <a:ext cx="2240280" cy="1143000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COLLECTER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Nominatim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OpenWeather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Booking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2926080" y="4526280"/>
            <a:ext cx="347472" cy="347472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3429000" y="4160520"/>
            <a:ext cx="2240280" cy="1143000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Score météo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Top 5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Fusion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760720" y="4526280"/>
            <a:ext cx="347472" cy="347472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6263640" y="4160520"/>
            <a:ext cx="2240280" cy="1143000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STOCKER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Neon PostgreSQL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8595360" y="4526280"/>
            <a:ext cx="347472" cy="347472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9098280" y="4160520"/>
            <a:ext cx="2240280" cy="1143000"/>
          </a:xfrm>
          <a:prstGeom prst="rect">
            <a:avLst/>
          </a:prstGeom>
          <a:solidFill>
            <a:srgbClr val="06304A"/>
          </a:solidFill>
          <a:ln cap="flat" cmpd="sng" w="9525">
            <a:solidFill>
              <a:srgbClr val="06304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VISUALISER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Cartes Folium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Résultat utilisateur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8A2B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>
            <a:off x="320040" y="201168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b="0" i="0" lang="en-US" sz="2300" u="none" cap="none" strike="noStrike">
                <a:solidFill>
                  <a:srgbClr val="12263A"/>
                </a:solidFill>
                <a:latin typeface="Play"/>
                <a:ea typeface="Play"/>
                <a:cs typeface="Play"/>
                <a:sym typeface="Play"/>
              </a:rPr>
              <a:t>Collecte des données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" name="Google Shape;62;p4"/>
          <p:cNvCxnSpPr/>
          <p:nvPr/>
        </p:nvCxnSpPr>
        <p:spPr>
          <a:xfrm>
            <a:off x="320040" y="658368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4"/>
          <p:cNvSpPr/>
          <p:nvPr/>
        </p:nvSpPr>
        <p:spPr>
          <a:xfrm>
            <a:off x="658368" y="1170432"/>
            <a:ext cx="566928" cy="566928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408176" y="1216152"/>
            <a:ext cx="23774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Nominatim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58368" y="1965960"/>
            <a:ext cx="3154680" cy="1298448"/>
          </a:xfrm>
          <a:prstGeom prst="rect">
            <a:avLst/>
          </a:prstGeom>
          <a:solidFill>
            <a:srgbClr val="F5FEFD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35 villes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coordonnées GPS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161288" y="3703320"/>
            <a:ext cx="2148840" cy="493776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AAA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AAA3"/>
                </a:solidFill>
                <a:latin typeface="Arial"/>
                <a:ea typeface="Arial"/>
                <a:cs typeface="Arial"/>
                <a:sym typeface="Arial"/>
              </a:rPr>
              <a:t>lat / lon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471416" y="1170432"/>
            <a:ext cx="566928" cy="566928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221224" y="1216152"/>
            <a:ext cx="23774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OpenWeather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471416" y="1965960"/>
            <a:ext cx="3154680" cy="1298448"/>
          </a:xfrm>
          <a:prstGeom prst="rect">
            <a:avLst/>
          </a:prstGeom>
          <a:solidFill>
            <a:srgbClr val="F5FEFD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prévisions 5 jours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température, pluie, vent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974336" y="3703320"/>
            <a:ext cx="2148840" cy="493776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AAA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AAA3"/>
                </a:solidFill>
                <a:latin typeface="Arial"/>
                <a:ea typeface="Arial"/>
                <a:cs typeface="Arial"/>
                <a:sym typeface="Arial"/>
              </a:rPr>
              <a:t>météo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284464" y="1170432"/>
            <a:ext cx="566928" cy="566928"/>
          </a:xfrm>
          <a:prstGeom prst="rect">
            <a:avLst/>
          </a:prstGeom>
          <a:solidFill>
            <a:srgbClr val="FF595E"/>
          </a:solidFill>
          <a:ln cap="flat" cmpd="sng" w="9525">
            <a:solidFill>
              <a:srgbClr val="FF59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9034272" y="1216152"/>
            <a:ext cx="23774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Booking.com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284464" y="1965960"/>
            <a:ext cx="3154680" cy="1298448"/>
          </a:xfrm>
          <a:prstGeom prst="rect">
            <a:avLst/>
          </a:prstGeom>
          <a:solidFill>
            <a:srgbClr val="F5FEFD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50 hôtels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nom, note, url, description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787384" y="3703320"/>
            <a:ext cx="2148840" cy="493776"/>
          </a:xfrm>
          <a:prstGeom prst="rect">
            <a:avLst/>
          </a:prstGeom>
          <a:solidFill>
            <a:srgbClr val="FFEDEE"/>
          </a:solidFill>
          <a:ln cap="flat" cmpd="sng" w="9525">
            <a:solidFill>
              <a:srgbClr val="FFED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95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595E"/>
                </a:solidFill>
                <a:latin typeface="Arial"/>
                <a:ea typeface="Arial"/>
                <a:cs typeface="Arial"/>
                <a:sym typeface="Arial"/>
              </a:rPr>
              <a:t>offres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3675888" y="4407408"/>
            <a:ext cx="347472" cy="347472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7498080" y="4407408"/>
            <a:ext cx="347472" cy="347472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731520" y="566928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Les sources alimentent un dataset final unique.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8A2B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5da45ec31_0_64"/>
          <p:cNvSpPr/>
          <p:nvPr/>
        </p:nvSpPr>
        <p:spPr>
          <a:xfrm>
            <a:off x="320040" y="201168"/>
            <a:ext cx="7680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b="0" i="0" lang="en-US" sz="2300" u="none" cap="none" strike="noStrike">
                <a:solidFill>
                  <a:srgbClr val="12263A"/>
                </a:solidFill>
                <a:latin typeface="Play"/>
                <a:ea typeface="Play"/>
                <a:cs typeface="Play"/>
                <a:sym typeface="Play"/>
              </a:rPr>
              <a:t>Score météo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g3f5da45ec31_0_64"/>
          <p:cNvCxnSpPr/>
          <p:nvPr/>
        </p:nvCxnSpPr>
        <p:spPr>
          <a:xfrm>
            <a:off x="320040" y="658368"/>
            <a:ext cx="2011800" cy="0"/>
          </a:xfrm>
          <a:prstGeom prst="straightConnector1">
            <a:avLst/>
          </a:prstGeom>
          <a:noFill/>
          <a:ln cap="flat" cmpd="sng" w="254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g3f5da45ec31_0_64"/>
          <p:cNvSpPr/>
          <p:nvPr/>
        </p:nvSpPr>
        <p:spPr>
          <a:xfrm>
            <a:off x="685800" y="1051560"/>
            <a:ext cx="2057400" cy="685800"/>
          </a:xfrm>
          <a:prstGeom prst="rect">
            <a:avLst/>
          </a:prstGeom>
          <a:solidFill>
            <a:srgbClr val="06304A"/>
          </a:solidFill>
          <a:ln cap="flat" cmpd="sng" w="9525">
            <a:solidFill>
              <a:srgbClr val="06304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Score /100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5da45ec31_0_64"/>
          <p:cNvSpPr/>
          <p:nvPr/>
        </p:nvSpPr>
        <p:spPr>
          <a:xfrm>
            <a:off x="685800" y="2130525"/>
            <a:ext cx="3478500" cy="240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f5da45ec31_0_64"/>
          <p:cNvSpPr/>
          <p:nvPr/>
        </p:nvSpPr>
        <p:spPr>
          <a:xfrm>
            <a:off x="1005905" y="2436455"/>
            <a:ext cx="1417200" cy="411600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Température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f5da45ec31_0_64"/>
          <p:cNvSpPr/>
          <p:nvPr/>
        </p:nvSpPr>
        <p:spPr>
          <a:xfrm>
            <a:off x="1005905" y="3108825"/>
            <a:ext cx="1417200" cy="411600"/>
          </a:xfrm>
          <a:prstGeom prst="rect">
            <a:avLst/>
          </a:prstGeom>
          <a:solidFill>
            <a:srgbClr val="FF595E"/>
          </a:solidFill>
          <a:ln cap="flat" cmpd="sng" w="9525">
            <a:solidFill>
              <a:srgbClr val="FF59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Pluie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f5da45ec31_0_64"/>
          <p:cNvSpPr/>
          <p:nvPr/>
        </p:nvSpPr>
        <p:spPr>
          <a:xfrm>
            <a:off x="1005905" y="3781195"/>
            <a:ext cx="1417200" cy="411600"/>
          </a:xfrm>
          <a:prstGeom prst="rect">
            <a:avLst/>
          </a:prstGeom>
          <a:solidFill>
            <a:srgbClr val="FFB703"/>
          </a:solidFill>
          <a:ln cap="flat" cmpd="sng" w="9525">
            <a:solidFill>
              <a:srgbClr val="FFB70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f5da45ec31_0_64"/>
          <p:cNvSpPr/>
          <p:nvPr/>
        </p:nvSpPr>
        <p:spPr>
          <a:xfrm>
            <a:off x="2514600" y="250515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proche de 24°C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f5da45ec31_0_64"/>
          <p:cNvSpPr/>
          <p:nvPr/>
        </p:nvSpPr>
        <p:spPr>
          <a:xfrm>
            <a:off x="2480350" y="317752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faible probabilité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f5da45ec31_0_64"/>
          <p:cNvSpPr/>
          <p:nvPr/>
        </p:nvSpPr>
        <p:spPr>
          <a:xfrm>
            <a:off x="2480350" y="384989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faible vitesse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5da45ec31_0_64"/>
          <p:cNvSpPr/>
          <p:nvPr/>
        </p:nvSpPr>
        <p:spPr>
          <a:xfrm>
            <a:off x="4892040" y="2971800"/>
            <a:ext cx="411600" cy="411600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f5da45ec31_0_64"/>
          <p:cNvSpPr/>
          <p:nvPr/>
        </p:nvSpPr>
        <p:spPr>
          <a:xfrm>
            <a:off x="6031400" y="2072925"/>
            <a:ext cx="4832400" cy="251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f5da45ec31_0_64"/>
          <p:cNvSpPr/>
          <p:nvPr/>
        </p:nvSpPr>
        <p:spPr>
          <a:xfrm>
            <a:off x="5753750" y="1197803"/>
            <a:ext cx="429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Top 5 destinations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f5da45ec31_0_64"/>
          <p:cNvSpPr/>
          <p:nvPr/>
        </p:nvSpPr>
        <p:spPr>
          <a:xfrm>
            <a:off x="6369875" y="2404800"/>
            <a:ext cx="320100" cy="256200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f5da45ec31_0_64"/>
          <p:cNvSpPr/>
          <p:nvPr/>
        </p:nvSpPr>
        <p:spPr>
          <a:xfrm>
            <a:off x="6369875" y="2848050"/>
            <a:ext cx="320100" cy="255900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f5da45ec31_0_64"/>
          <p:cNvSpPr/>
          <p:nvPr/>
        </p:nvSpPr>
        <p:spPr>
          <a:xfrm>
            <a:off x="6369875" y="3290993"/>
            <a:ext cx="320100" cy="255900"/>
          </a:xfrm>
          <a:prstGeom prst="rect">
            <a:avLst/>
          </a:prstGeom>
          <a:solidFill>
            <a:srgbClr val="06304A"/>
          </a:solidFill>
          <a:ln cap="flat" cmpd="sng" w="9525">
            <a:solidFill>
              <a:srgbClr val="063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f5da45ec31_0_64"/>
          <p:cNvSpPr/>
          <p:nvPr/>
        </p:nvSpPr>
        <p:spPr>
          <a:xfrm>
            <a:off x="6369875" y="3733961"/>
            <a:ext cx="320100" cy="255900"/>
          </a:xfrm>
          <a:prstGeom prst="rect">
            <a:avLst/>
          </a:prstGeom>
          <a:solidFill>
            <a:srgbClr val="06304A"/>
          </a:solidFill>
          <a:ln cap="flat" cmpd="sng" w="9525">
            <a:solidFill>
              <a:srgbClr val="063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f5da45ec31_0_64"/>
          <p:cNvSpPr/>
          <p:nvPr/>
        </p:nvSpPr>
        <p:spPr>
          <a:xfrm>
            <a:off x="6369875" y="4176900"/>
            <a:ext cx="320100" cy="256200"/>
          </a:xfrm>
          <a:prstGeom prst="rect">
            <a:avLst/>
          </a:prstGeom>
          <a:solidFill>
            <a:srgbClr val="06304A"/>
          </a:solidFill>
          <a:ln cap="flat" cmpd="sng" w="9525">
            <a:solidFill>
              <a:srgbClr val="063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f5da45ec31_0_64"/>
          <p:cNvSpPr/>
          <p:nvPr/>
        </p:nvSpPr>
        <p:spPr>
          <a:xfrm>
            <a:off x="6792418" y="2432245"/>
            <a:ext cx="2103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Bayonne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5da45ec31_0_64"/>
          <p:cNvSpPr/>
          <p:nvPr/>
        </p:nvSpPr>
        <p:spPr>
          <a:xfrm>
            <a:off x="6792418" y="2875338"/>
            <a:ext cx="2103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Aix en Provence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f5da45ec31_0_64"/>
          <p:cNvSpPr/>
          <p:nvPr/>
        </p:nvSpPr>
        <p:spPr>
          <a:xfrm>
            <a:off x="6792418" y="3318456"/>
            <a:ext cx="2103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Montauban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f5da45ec31_0_64"/>
          <p:cNvSpPr/>
          <p:nvPr/>
        </p:nvSpPr>
        <p:spPr>
          <a:xfrm>
            <a:off x="6792418" y="3761549"/>
            <a:ext cx="2103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Nîmes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f5da45ec31_0_64"/>
          <p:cNvSpPr/>
          <p:nvPr/>
        </p:nvSpPr>
        <p:spPr>
          <a:xfrm>
            <a:off x="6792418" y="4204642"/>
            <a:ext cx="2103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Avignon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f5da45ec31_0_64"/>
          <p:cNvSpPr/>
          <p:nvPr/>
        </p:nvSpPr>
        <p:spPr>
          <a:xfrm>
            <a:off x="8320880" y="2487153"/>
            <a:ext cx="1694700" cy="91500"/>
          </a:xfrm>
          <a:prstGeom prst="rect">
            <a:avLst/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f5da45ec31_0_64"/>
          <p:cNvSpPr/>
          <p:nvPr/>
        </p:nvSpPr>
        <p:spPr>
          <a:xfrm>
            <a:off x="8320880" y="2930246"/>
            <a:ext cx="1659600" cy="91500"/>
          </a:xfrm>
          <a:prstGeom prst="rect">
            <a:avLst/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5da45ec31_0_64"/>
          <p:cNvSpPr/>
          <p:nvPr/>
        </p:nvSpPr>
        <p:spPr>
          <a:xfrm>
            <a:off x="8293505" y="3359614"/>
            <a:ext cx="1307700" cy="91500"/>
          </a:xfrm>
          <a:prstGeom prst="rect">
            <a:avLst/>
          </a:prstGeom>
          <a:solidFill>
            <a:srgbClr val="DFF8F4"/>
          </a:solidFill>
          <a:ln cap="flat" cmpd="sng" w="12700">
            <a:solidFill>
              <a:srgbClr val="DFF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f5da45ec31_0_64"/>
          <p:cNvSpPr/>
          <p:nvPr/>
        </p:nvSpPr>
        <p:spPr>
          <a:xfrm>
            <a:off x="8293505" y="3782145"/>
            <a:ext cx="1287600" cy="91500"/>
          </a:xfrm>
          <a:prstGeom prst="rect">
            <a:avLst/>
          </a:prstGeom>
          <a:solidFill>
            <a:srgbClr val="DFF8F4"/>
          </a:solidFill>
          <a:ln cap="flat" cmpd="sng" w="12700">
            <a:solidFill>
              <a:srgbClr val="DFF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f5da45ec31_0_64"/>
          <p:cNvSpPr/>
          <p:nvPr/>
        </p:nvSpPr>
        <p:spPr>
          <a:xfrm>
            <a:off x="8293505" y="4204650"/>
            <a:ext cx="1156800" cy="91500"/>
          </a:xfrm>
          <a:prstGeom prst="rect">
            <a:avLst/>
          </a:prstGeom>
          <a:solidFill>
            <a:srgbClr val="DFF8F4"/>
          </a:solidFill>
          <a:ln cap="flat" cmpd="sng" w="12700">
            <a:solidFill>
              <a:srgbClr val="DFF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f5da45ec31_0_64"/>
          <p:cNvSpPr/>
          <p:nvPr/>
        </p:nvSpPr>
        <p:spPr>
          <a:xfrm>
            <a:off x="10051560" y="2487157"/>
            <a:ext cx="567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89.4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f5da45ec31_0_64"/>
          <p:cNvSpPr/>
          <p:nvPr/>
        </p:nvSpPr>
        <p:spPr>
          <a:xfrm>
            <a:off x="10051560" y="2866200"/>
            <a:ext cx="567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89.3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f5da45ec31_0_64"/>
          <p:cNvSpPr/>
          <p:nvPr/>
        </p:nvSpPr>
        <p:spPr>
          <a:xfrm>
            <a:off x="10051560" y="3245243"/>
            <a:ext cx="567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88.6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f5da45ec31_0_64"/>
          <p:cNvSpPr/>
          <p:nvPr/>
        </p:nvSpPr>
        <p:spPr>
          <a:xfrm>
            <a:off x="10051560" y="3718093"/>
            <a:ext cx="567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88.6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f5da45ec31_0_64"/>
          <p:cNvSpPr/>
          <p:nvPr/>
        </p:nvSpPr>
        <p:spPr>
          <a:xfrm>
            <a:off x="10051560" y="4190943"/>
            <a:ext cx="567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88.</a:t>
            </a:r>
            <a:r>
              <a:rPr lang="en-US" sz="1250">
                <a:solidFill>
                  <a:srgbClr val="667085"/>
                </a:solidFill>
              </a:rPr>
              <a:t>3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f5da45ec31_0_64"/>
          <p:cNvSpPr/>
          <p:nvPr/>
        </p:nvSpPr>
        <p:spPr>
          <a:xfrm>
            <a:off x="5715000" y="5349240"/>
            <a:ext cx="5029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Les 5 meilleures villes alimentent ensuite le scraping Booking.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5da45ec31_0_64"/>
          <p:cNvSpPr/>
          <p:nvPr/>
        </p:nvSpPr>
        <p:spPr>
          <a:xfrm>
            <a:off x="11475720" y="6473952"/>
            <a:ext cx="41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8A2B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700">
                <a:solidFill>
                  <a:srgbClr val="98A2B3"/>
                </a:solidFill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/>
          <p:nvPr/>
        </p:nvSpPr>
        <p:spPr>
          <a:xfrm>
            <a:off x="320040" y="201168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b="0" i="0" lang="en-US" sz="2300" u="none" cap="none" strike="noStrike">
                <a:solidFill>
                  <a:srgbClr val="12263A"/>
                </a:solidFill>
                <a:latin typeface="Play"/>
                <a:ea typeface="Play"/>
                <a:cs typeface="Play"/>
                <a:sym typeface="Play"/>
              </a:rPr>
              <a:t>Stockage &amp; restitution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6"/>
          <p:cNvCxnSpPr/>
          <p:nvPr/>
        </p:nvCxnSpPr>
        <p:spPr>
          <a:xfrm>
            <a:off x="320040" y="658368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6"/>
          <p:cNvSpPr/>
          <p:nvPr/>
        </p:nvSpPr>
        <p:spPr>
          <a:xfrm>
            <a:off x="1234440" y="1325880"/>
            <a:ext cx="2240280" cy="841248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914400" y="251460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914400" y="294436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raw / processed / final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914400" y="3657600"/>
            <a:ext cx="2880360" cy="1207008"/>
          </a:xfrm>
          <a:prstGeom prst="rect">
            <a:avLst/>
          </a:prstGeom>
          <a:solidFill>
            <a:srgbClr val="F5FEFD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HTML bruts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CSV intermédiaires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dataset final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3950208" y="1609344"/>
            <a:ext cx="384048" cy="384048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480560" y="1325880"/>
            <a:ext cx="2240280" cy="841248"/>
          </a:xfrm>
          <a:prstGeom prst="rect">
            <a:avLst/>
          </a:prstGeom>
          <a:solidFill>
            <a:srgbClr val="06304A"/>
          </a:solidFill>
          <a:ln cap="flat" cmpd="sng" w="9525">
            <a:solidFill>
              <a:srgbClr val="06304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50 lignes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160520" y="251460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Neon PostgreSQL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160520" y="294436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table kayak_results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160520" y="3657600"/>
            <a:ext cx="2880360" cy="1207008"/>
          </a:xfrm>
          <a:prstGeom prst="rect">
            <a:avLst/>
          </a:prstGeom>
          <a:solidFill>
            <a:srgbClr val="F5FEFD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requêtes SQL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persistance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réutilisation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7196328" y="1609344"/>
            <a:ext cx="384048" cy="384048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7726680" y="1325880"/>
            <a:ext cx="2240280" cy="841248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cartes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406640" y="251460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Cartes Folium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406640" y="294436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destinations + hôtels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7406640" y="3657600"/>
            <a:ext cx="2880360" cy="1207008"/>
          </a:xfrm>
          <a:prstGeom prst="rect">
            <a:avLst/>
          </a:prstGeom>
          <a:solidFill>
            <a:srgbClr val="F5FEFD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Top 5 villes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Top 20 hôtels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visualisation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8A2B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320040" y="201168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b="0" i="0" lang="en-US" sz="2300" u="none" cap="none" strike="noStrike">
                <a:solidFill>
                  <a:srgbClr val="12263A"/>
                </a:solidFill>
                <a:latin typeface="Play"/>
                <a:ea typeface="Play"/>
                <a:cs typeface="Play"/>
                <a:sym typeface="Play"/>
              </a:rPr>
              <a:t>Difficultés rencontrées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p7"/>
          <p:cNvCxnSpPr/>
          <p:nvPr/>
        </p:nvCxnSpPr>
        <p:spPr>
          <a:xfrm>
            <a:off x="320040" y="658368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7"/>
          <p:cNvSpPr/>
          <p:nvPr/>
        </p:nvSpPr>
        <p:spPr>
          <a:xfrm>
            <a:off x="822960" y="1234440"/>
            <a:ext cx="594360" cy="594360"/>
          </a:xfrm>
          <a:prstGeom prst="rect">
            <a:avLst/>
          </a:prstGeom>
          <a:solidFill>
            <a:srgbClr val="FF595E"/>
          </a:solidFill>
          <a:ln cap="flat" cmpd="sng" w="9525">
            <a:solidFill>
              <a:srgbClr val="FF59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645920" y="1261872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Booking bloque les requêtes directes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971032" y="1353312"/>
            <a:ext cx="329184" cy="329184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355080" y="1188720"/>
            <a:ext cx="4663440" cy="713232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ScrapingBee + variantes URL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822960" y="2743200"/>
            <a:ext cx="594360" cy="594360"/>
          </a:xfrm>
          <a:prstGeom prst="rect">
            <a:avLst/>
          </a:prstGeom>
          <a:solidFill>
            <a:srgbClr val="FFB703"/>
          </a:solidFill>
          <a:ln cap="flat" cmpd="sng" w="9525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645920" y="2770632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API météo gratuite limitée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971032" y="2862072"/>
            <a:ext cx="329184" cy="329184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6355080" y="2697480"/>
            <a:ext cx="4663440" cy="713232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Agrégation des prévisions 5 jours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822960" y="4251960"/>
            <a:ext cx="594360" cy="594360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645920" y="4279392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Marqueurs hôtels superposés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971032" y="4370832"/>
            <a:ext cx="329184" cy="329184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6355080" y="4206240"/>
            <a:ext cx="4663440" cy="713232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Décalage circulaire sur la carte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22960" y="5961888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Point fort : le projet montre une vraie logique d’adaptation face aux contraintes terrain.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8A2B3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320040" y="201168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b="0" i="0" lang="en-US" sz="2300" u="none" cap="none" strike="noStrike">
                <a:solidFill>
                  <a:srgbClr val="12263A"/>
                </a:solidFill>
                <a:latin typeface="Play"/>
                <a:ea typeface="Play"/>
                <a:cs typeface="Play"/>
                <a:sym typeface="Play"/>
              </a:rPr>
              <a:t>Conclusion et perspectives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8"/>
          <p:cNvCxnSpPr/>
          <p:nvPr/>
        </p:nvCxnSpPr>
        <p:spPr>
          <a:xfrm>
            <a:off x="320040" y="658368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8"/>
          <p:cNvSpPr/>
          <p:nvPr/>
        </p:nvSpPr>
        <p:spPr>
          <a:xfrm>
            <a:off x="685800" y="987552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Pipeline ETL complet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de bout en bout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777240" y="2331720"/>
            <a:ext cx="1234440" cy="395021"/>
          </a:xfrm>
          <a:prstGeom prst="rect">
            <a:avLst/>
          </a:prstGeom>
          <a:solidFill>
            <a:srgbClr val="FFFFFF">
              <a:alpha val="96078"/>
            </a:srgbClr>
          </a:solidFill>
          <a:ln cap="flat" cmpd="sng" w="9525">
            <a:solidFill>
              <a:srgbClr val="CFE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AAA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AAA3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777240" y="2726741"/>
            <a:ext cx="1234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villes analysées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2404872" y="2331720"/>
            <a:ext cx="1234440" cy="395021"/>
          </a:xfrm>
          <a:prstGeom prst="rect">
            <a:avLst/>
          </a:prstGeom>
          <a:solidFill>
            <a:srgbClr val="FFFFFF">
              <a:alpha val="96078"/>
            </a:srgbClr>
          </a:solidFill>
          <a:ln cap="flat" cmpd="sng" w="9525">
            <a:solidFill>
              <a:srgbClr val="CFE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2404872" y="2726741"/>
            <a:ext cx="1234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hôtels récupérés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032504" y="2331720"/>
            <a:ext cx="1234440" cy="395021"/>
          </a:xfrm>
          <a:prstGeom prst="rect">
            <a:avLst/>
          </a:prstGeom>
          <a:solidFill>
            <a:srgbClr val="FFFFFF">
              <a:alpha val="96078"/>
            </a:srgbClr>
          </a:solidFill>
          <a:ln cap="flat" cmpd="sng" w="9525">
            <a:solidFill>
              <a:srgbClr val="CFE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AAA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AAA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032504" y="2726741"/>
            <a:ext cx="1234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cartes interactives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822960" y="393192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Compétences clés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822960" y="4343400"/>
            <a:ext cx="5120640" cy="621792"/>
          </a:xfrm>
          <a:prstGeom prst="rect">
            <a:avLst/>
          </a:prstGeom>
          <a:solidFill>
            <a:srgbClr val="F5FEFD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APIs REST   •   Scraping   •   pandas   •   PostgreSQL   •   S3   •   Folium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822960" y="53492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Évolutions possibles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822960" y="569671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coordonnées hôtels réelles  ·  météo historique  ·  orchestration automatique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8A2B3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8" title="ChatGPT Image 28 juil. 2026, 16_32_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0310" y="758166"/>
            <a:ext cx="5577515" cy="5014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5da45ec31_0_105"/>
          <p:cNvSpPr/>
          <p:nvPr/>
        </p:nvSpPr>
        <p:spPr>
          <a:xfrm>
            <a:off x="780267" y="1827113"/>
            <a:ext cx="106068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7500"/>
              <a:buFont typeface="Calibri"/>
              <a:buNone/>
            </a:pPr>
            <a:r>
              <a:rPr b="1" i="0" lang="en-US" sz="7500" u="none" cap="none" strike="noStrike">
                <a:solidFill>
                  <a:srgbClr val="0E3449"/>
                </a:solidFill>
                <a:latin typeface="Calibri"/>
                <a:ea typeface="Calibri"/>
                <a:cs typeface="Calibri"/>
                <a:sym typeface="Calibri"/>
              </a:rPr>
              <a:t>Merci !</a:t>
            </a:r>
            <a:endParaRPr b="0" i="0" sz="7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f5da45ec31_0_105"/>
          <p:cNvSpPr/>
          <p:nvPr/>
        </p:nvSpPr>
        <p:spPr>
          <a:xfrm>
            <a:off x="3708438" y="4677075"/>
            <a:ext cx="47748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CDSD – </a:t>
            </a:r>
            <a:r>
              <a:rPr lang="en-US" sz="1750">
                <a:solidFill>
                  <a:srgbClr val="FFFFFF"/>
                </a:solidFill>
              </a:rPr>
              <a:t>Groupe 4</a:t>
            </a:r>
            <a:r>
              <a:rPr b="0" i="0" lang="en-US" sz="1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– 2026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f5da45ec31_0_105"/>
          <p:cNvSpPr/>
          <p:nvPr/>
        </p:nvSpPr>
        <p:spPr>
          <a:xfrm>
            <a:off x="11475720" y="6473952"/>
            <a:ext cx="41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8A2B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700">
                <a:solidFill>
                  <a:srgbClr val="98A2B3"/>
                </a:solidFill>
              </a:rPr>
              <a:t>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2026-07-28T14:11:22Z</dcterms:created>
  <dc:creator>OpenAI</dc:creator>
</cp:coreProperties>
</file>